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9689" autoAdjust="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Molaba" userId="9479b2db-2b1b-4737-9002-1ef62829b77b" providerId="ADAL" clId="{2E762200-7AE4-4CD4-B6E4-9886BEFCCC7C}"/>
    <pc:docChg chg="modSld">
      <pc:chgData name="S Molaba" userId="9479b2db-2b1b-4737-9002-1ef62829b77b" providerId="ADAL" clId="{2E762200-7AE4-4CD4-B6E4-9886BEFCCC7C}" dt="2026-06-08T20:09:05.330" v="17" actId="20577"/>
      <pc:docMkLst>
        <pc:docMk/>
      </pc:docMkLst>
      <pc:sldChg chg="modSp mod">
        <pc:chgData name="S Molaba" userId="9479b2db-2b1b-4737-9002-1ef62829b77b" providerId="ADAL" clId="{2E762200-7AE4-4CD4-B6E4-9886BEFCCC7C}" dt="2026-06-08T20:09:05.330" v="17" actId="20577"/>
        <pc:sldMkLst>
          <pc:docMk/>
          <pc:sldMk cId="3907109316" sldId="256"/>
        </pc:sldMkLst>
        <pc:spChg chg="mod">
          <ac:chgData name="S Molaba" userId="9479b2db-2b1b-4737-9002-1ef62829b77b" providerId="ADAL" clId="{2E762200-7AE4-4CD4-B6E4-9886BEFCCC7C}" dt="2026-06-08T20:09:05.330" v="17" actId="20577"/>
          <ac:spMkLst>
            <pc:docMk/>
            <pc:sldMk cId="3907109316" sldId="256"/>
            <ac:spMk id="2" creationId="{25C4692F-D985-8C60-15A9-3EBFB5C81C93}"/>
          </ac:spMkLst>
        </pc:spChg>
        <pc:spChg chg="mod">
          <ac:chgData name="S Molaba" userId="9479b2db-2b1b-4737-9002-1ef62829b77b" providerId="ADAL" clId="{2E762200-7AE4-4CD4-B6E4-9886BEFCCC7C}" dt="2026-06-08T20:08:38.187" v="0" actId="20577"/>
          <ac:spMkLst>
            <pc:docMk/>
            <pc:sldMk cId="3907109316" sldId="256"/>
            <ac:spMk id="3" creationId="{DF1E76A8-335E-02B3-F018-E11A5E4A9C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244D1-334D-4F30-BD33-509BE2091F1D}" type="datetimeFigureOut">
              <a:rPr lang="en-ZA" smtClean="0"/>
              <a:t>2026/06/08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94635-D110-483C-8247-47EA1F35B5E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948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94635-D110-483C-8247-47EA1F35B5E1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54526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692F-D985-8C60-15A9-3EBFB5C81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8662" y="0"/>
            <a:ext cx="8629337" cy="1409075"/>
          </a:xfrm>
        </p:spPr>
        <p:txBody>
          <a:bodyPr>
            <a:normAutofit/>
          </a:bodyPr>
          <a:lstStyle/>
          <a:p>
            <a:r>
              <a:rPr lang="en-ZA" dirty="0"/>
              <a:t>S </a:t>
            </a:r>
            <a:r>
              <a:rPr lang="en-ZA"/>
              <a:t>molaba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E76A8-335E-02B3-F018-E11A5E4A9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8662" y="1409075"/>
            <a:ext cx="8629337" cy="653571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07109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2B72E-5FF0-C8EC-25FB-AFE60E56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9" y="0"/>
            <a:ext cx="9743266" cy="1199213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PART 1:Create a firewall using 			      	    iptables or </a:t>
            </a:r>
            <a:r>
              <a:rPr lang="en-US" dirty="0" err="1">
                <a:cs typeface="Times New Roman" panose="02020603050405020304" pitchFamily="18" charset="0"/>
              </a:rPr>
              <a:t>Ufw</a:t>
            </a:r>
            <a:endParaRPr lang="en-ZA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DF2E-3DBC-FC38-0A43-3FF743594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91" y="1364105"/>
            <a:ext cx="9902820" cy="5329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OBJECTIVE: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cs typeface="Times New Roman" panose="02020603050405020304" pitchFamily="18" charset="0"/>
              </a:rPr>
              <a:t>to control and secure network traffic on a system by defining rules that allow or block specific types of connections. The primary objective is to </a:t>
            </a:r>
            <a:r>
              <a:rPr lang="en-ZA" dirty="0">
                <a:cs typeface="Times New Roman" panose="02020603050405020304" pitchFamily="18" charset="0"/>
              </a:rPr>
              <a:t>enhance security, control network traffic, network management and protect internal resources using uncomplicated Firewall (</a:t>
            </a:r>
            <a:r>
              <a:rPr lang="en-ZA" dirty="0" err="1">
                <a:cs typeface="Times New Roman" panose="02020603050405020304" pitchFamily="18" charset="0"/>
              </a:rPr>
              <a:t>uFW</a:t>
            </a:r>
            <a:r>
              <a:rPr lang="en-ZA" dirty="0">
                <a:cs typeface="Times New Roman" panose="02020603050405020304" pitchFamily="18" charset="0"/>
              </a:rPr>
              <a:t>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u="sng" dirty="0">
                <a:cs typeface="Times New Roman" panose="02020603050405020304" pitchFamily="18" charset="0"/>
              </a:rPr>
              <a:t>STEP 1: Install </a:t>
            </a:r>
            <a:r>
              <a:rPr lang="en-ZA" u="sng" dirty="0" err="1">
                <a:cs typeface="Times New Roman" panose="02020603050405020304" pitchFamily="18" charset="0"/>
              </a:rPr>
              <a:t>uFW</a:t>
            </a:r>
            <a:endParaRPr lang="en-US" u="sng" dirty="0"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 shot of a computer">
            <a:extLst>
              <a:ext uri="{FF2B5EF4-FFF2-40B4-BE49-F238E27FC236}">
                <a16:creationId xmlns:a16="http://schemas.microsoft.com/office/drawing/2014/main" id="{7491D0B9-49D6-EE9A-AA1F-E1D579356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89" y="4253525"/>
            <a:ext cx="10413687" cy="224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6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260F3-372F-729E-CE4E-1A0D08875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032" y="1"/>
            <a:ext cx="9364577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The command to install </a:t>
            </a:r>
            <a:r>
              <a:rPr lang="en-US" dirty="0" err="1">
                <a:cs typeface="Times New Roman" panose="02020603050405020304" pitchFamily="18" charset="0"/>
              </a:rPr>
              <a:t>uFW</a:t>
            </a:r>
            <a:r>
              <a:rPr lang="en-US" dirty="0">
                <a:cs typeface="Times New Roman" panose="02020603050405020304" pitchFamily="18" charset="0"/>
              </a:rPr>
              <a:t> does the following: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cs typeface="Times New Roman" panose="02020603050405020304" pitchFamily="18" charset="0"/>
              </a:rPr>
              <a:t>Sudo</a:t>
            </a:r>
            <a:r>
              <a:rPr lang="en-US" dirty="0">
                <a:cs typeface="Times New Roman" panose="02020603050405020304" pitchFamily="18" charset="0"/>
              </a:rPr>
              <a:t> - Runs the command with superuser (root) privileges, which is necessary for installing software.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cs typeface="Times New Roman" panose="02020603050405020304" pitchFamily="18" charset="0"/>
              </a:rPr>
              <a:t>Apt-get</a:t>
            </a:r>
            <a:r>
              <a:rPr lang="en-US" dirty="0">
                <a:cs typeface="Times New Roman" panose="02020603050405020304" pitchFamily="18" charset="0"/>
              </a:rPr>
              <a:t> – Uses the advanced package tool (apt) to manage packages on systems like Ubuntu.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cs typeface="Times New Roman" panose="02020603050405020304" pitchFamily="18" charset="0"/>
              </a:rPr>
              <a:t>Install</a:t>
            </a:r>
            <a:r>
              <a:rPr lang="en-US" dirty="0">
                <a:cs typeface="Times New Roman" panose="02020603050405020304" pitchFamily="18" charset="0"/>
              </a:rPr>
              <a:t> – specifies that you want to install a package.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 err="1">
                <a:cs typeface="Times New Roman" panose="02020603050405020304" pitchFamily="18" charset="0"/>
              </a:rPr>
              <a:t>Ufw</a:t>
            </a:r>
            <a:r>
              <a:rPr lang="en-US" dirty="0">
                <a:cs typeface="Times New Roman" panose="02020603050405020304" pitchFamily="18" charset="0"/>
              </a:rPr>
              <a:t> – the package name for uncomplicated Firewall, a user-friendly firewall management tool.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cs typeface="Times New Roman" panose="02020603050405020304" pitchFamily="18" charset="0"/>
              </a:rPr>
              <a:t>The command downloads </a:t>
            </a:r>
            <a:r>
              <a:rPr lang="en-US" dirty="0" err="1">
                <a:cs typeface="Times New Roman" panose="02020603050405020304" pitchFamily="18" charset="0"/>
              </a:rPr>
              <a:t>ufw</a:t>
            </a:r>
            <a:r>
              <a:rPr lang="en-US" dirty="0">
                <a:cs typeface="Times New Roman" panose="02020603050405020304" pitchFamily="18" charset="0"/>
              </a:rPr>
              <a:t> package from Ubuntu’s official repositories, installs </a:t>
            </a:r>
            <a:r>
              <a:rPr lang="en-US" dirty="0" err="1">
                <a:cs typeface="Times New Roman" panose="02020603050405020304" pitchFamily="18" charset="0"/>
              </a:rPr>
              <a:t>ufw</a:t>
            </a:r>
            <a:r>
              <a:rPr lang="en-US" dirty="0">
                <a:cs typeface="Times New Roman" panose="02020603050405020304" pitchFamily="18" charset="0"/>
              </a:rPr>
              <a:t> along with any required dependencies.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u="sng" dirty="0">
                <a:cs typeface="Times New Roman" panose="02020603050405020304" pitchFamily="18" charset="0"/>
              </a:rPr>
              <a:t>STEP 2: Enable </a:t>
            </a:r>
            <a:r>
              <a:rPr lang="en-US" u="sng" dirty="0" err="1">
                <a:cs typeface="Times New Roman" panose="02020603050405020304" pitchFamily="18" charset="0"/>
              </a:rPr>
              <a:t>ufw</a:t>
            </a:r>
            <a:endParaRPr lang="en-US" u="sng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773435-8F08-CDEB-D4EF-D11EBBB21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32" y="5560765"/>
            <a:ext cx="6805250" cy="88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4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65828-C88F-E718-312C-7FEF947D9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474" y="202262"/>
            <a:ext cx="10214811" cy="679826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STEP 3: Allow specific ports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/>
              <a:t>Ufw</a:t>
            </a:r>
            <a:r>
              <a:rPr lang="en-US" b="1" dirty="0"/>
              <a:t> allow </a:t>
            </a:r>
            <a:r>
              <a:rPr lang="en-US" dirty="0"/>
              <a:t>– tells the firewall to allow incoming connections.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22/</a:t>
            </a:r>
            <a:r>
              <a:rPr lang="en-US" b="1" dirty="0" err="1"/>
              <a:t>tcp</a:t>
            </a:r>
            <a:r>
              <a:rPr lang="en-US" b="1" dirty="0"/>
              <a:t> – </a:t>
            </a:r>
            <a:r>
              <a:rPr lang="en-US" dirty="0"/>
              <a:t>refers to the port 22 using the TCP protocol, which is commonly used for SSH (Secure Shell) connections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80/</a:t>
            </a:r>
            <a:r>
              <a:rPr lang="en-US" b="1" dirty="0" err="1"/>
              <a:t>tcp</a:t>
            </a:r>
            <a:r>
              <a:rPr lang="en-US" b="1" dirty="0"/>
              <a:t> </a:t>
            </a:r>
            <a:r>
              <a:rPr lang="en-US" dirty="0"/>
              <a:t>– refers to port 80 using the TCP protocol, which is used for HTTP (Web traffic).</a:t>
            </a:r>
          </a:p>
          <a:p>
            <a:pPr marL="0" indent="0">
              <a:buNone/>
            </a:pPr>
            <a:r>
              <a:rPr lang="en-US" u="sng" dirty="0"/>
              <a:t>STEP 4: Deny all Incoming Traffic (Except allowed rules)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515215-BECA-D4A8-2C8F-5C00A65DB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37" y="728087"/>
            <a:ext cx="6096528" cy="541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BCB7C7-8C5C-1FFD-BD97-47B19FBF7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337" y="1396434"/>
            <a:ext cx="6180356" cy="541067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DB8ED19-8745-51C3-E377-C141C9C13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337" y="5604087"/>
            <a:ext cx="6828112" cy="10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1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C0E34-3F90-7FE5-892E-5804E28F2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0"/>
            <a:ext cx="10288588" cy="6858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Sudo </a:t>
            </a:r>
            <a:r>
              <a:rPr lang="en-US" b="1" dirty="0" err="1"/>
              <a:t>ufw</a:t>
            </a:r>
            <a:r>
              <a:rPr lang="en-US" b="1" dirty="0"/>
              <a:t> default deny incoming – </a:t>
            </a:r>
            <a:r>
              <a:rPr lang="en-US" dirty="0"/>
              <a:t>Blocks all incoming connections by default. Any connection from outside to your system will be denied unless explicitly allowed.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Sudo </a:t>
            </a:r>
            <a:r>
              <a:rPr lang="en-US" b="1" dirty="0" err="1"/>
              <a:t>ufw</a:t>
            </a:r>
            <a:r>
              <a:rPr lang="en-US" b="1" dirty="0"/>
              <a:t> default allow outgoing </a:t>
            </a:r>
            <a:r>
              <a:rPr lang="en-US" dirty="0"/>
              <a:t>– Permits all outgoing connections by default. Your system can freely send requests to external servers.</a:t>
            </a:r>
          </a:p>
          <a:p>
            <a:pPr marL="0" indent="0">
              <a:buNone/>
            </a:pPr>
            <a:r>
              <a:rPr lang="en-US" u="sng" dirty="0"/>
              <a:t>STEP 5</a:t>
            </a:r>
            <a:r>
              <a:rPr lang="en-US" b="1" u="sng" dirty="0"/>
              <a:t>: </a:t>
            </a:r>
            <a:r>
              <a:rPr lang="en-US" u="sng" dirty="0"/>
              <a:t>Check Firewall status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/>
              <a:t>ufw</a:t>
            </a:r>
            <a:r>
              <a:rPr lang="en-US" b="1" dirty="0"/>
              <a:t> status </a:t>
            </a:r>
            <a:r>
              <a:rPr lang="en-US" dirty="0"/>
              <a:t>– Shows whether the UFW is active or inactive, along with a list of currently allowed or blocked rules.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ZA" b="1" dirty="0"/>
          </a:p>
        </p:txBody>
      </p:sp>
      <p:pic>
        <p:nvPicPr>
          <p:cNvPr id="5" name="Picture 4" descr="A computer screen shot of a program">
            <a:extLst>
              <a:ext uri="{FF2B5EF4-FFF2-40B4-BE49-F238E27FC236}">
                <a16:creationId xmlns:a16="http://schemas.microsoft.com/office/drawing/2014/main" id="{4A733C3F-8AC2-B000-552C-A436A36DD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3125501"/>
            <a:ext cx="6553768" cy="23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65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B4FFE-B719-1A8B-E409-EBB8D2A8C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4223" y="0"/>
            <a:ext cx="10101398" cy="6858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Verbose </a:t>
            </a:r>
            <a:r>
              <a:rPr lang="en-US" dirty="0"/>
              <a:t>– Adds detailed output, including extra information such as default policies, logging status, and active profiles.</a:t>
            </a:r>
          </a:p>
          <a:p>
            <a:pPr marL="0" indent="0">
              <a:buNone/>
            </a:pPr>
            <a:endParaRPr lang="en-ZA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600" dirty="0">
                <a:cs typeface="Times New Roman" panose="02020603050405020304" pitchFamily="18" charset="0"/>
              </a:rPr>
              <a:t>PART 2: USING SURICATA OR ANY OTHER TOOL 		     CREATE AN IDS/IPS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cs typeface="Times New Roman" panose="02020603050405020304" pitchFamily="18" charset="0"/>
              </a:rPr>
              <a:t>OBJECTIVE: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 primary objective is to enhance network security by monitoring and analyzing traffic for potential threats using Suricata, a powerful open-source tool designed for Intrusion Detection Systems (IDS) and Intrusion Prevention Systems (IPS).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u="sng" dirty="0"/>
              <a:t>STEP 1: Install Suricata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73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FE07634-A83A-4681-9C1D-BC0775F9D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20" name="Rectangle 19">
              <a:extLst>
                <a:ext uri="{FF2B5EF4-FFF2-40B4-BE49-F238E27FC236}">
                  <a16:creationId xmlns:a16="http://schemas.microsoft.com/office/drawing/2014/main" id="{BF62976A-266E-4650-88F2-C16130F3D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88D9B99B-59C2-481A-A948-F87920A7F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F0DA79-A498-CDA8-33EF-19B302856E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014"/>
          <a:stretch/>
        </p:blipFill>
        <p:spPr>
          <a:xfrm>
            <a:off x="2052637" y="164892"/>
            <a:ext cx="9010650" cy="455474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2E1FE48-FA7B-4262-B922-041542931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2E644B1-8F72-4AC4-89F1-EB3A02734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1781B8E8-8A26-4FFB-BE0C-7C0C644F7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4109D997-E9DF-4429-A643-3E691E2B7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392695A-F131-4C51-B689-3F4D5B1A2F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8218EC3E-07D0-417A-B0A8-057F825EF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B036399E-7675-47B6-A645-242946879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C44A0438-B8A4-43B3-B17C-B919FCD92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ABC7257F-6F64-4B81-BDA7-7C232BCBA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72DD7E92-F033-480C-A220-63CE422C3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444A9AC9-463E-45E7-A818-13F664F7C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6CCE9BBE-5DE3-4991-80CA-DFEB92867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3180F6DF-A13F-491C-BF97-B206E3E7B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CAD0E44C-73C8-42BB-ADA8-2BA6B3082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" name="Freeform 18">
              <a:extLst>
                <a:ext uri="{FF2B5EF4-FFF2-40B4-BE49-F238E27FC236}">
                  <a16:creationId xmlns:a16="http://schemas.microsoft.com/office/drawing/2014/main" id="{436EC43E-A70D-4E5C-B275-35CA8E93C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ADE7E5B6-2E2A-4F56-9E90-F8613E6D1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86B9E49B-AE8D-47E0-BACC-A6D0AC3AB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2EB961AF-CD61-41BA-B0B2-0741A5ED6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1" name="Freeform 22">
              <a:extLst>
                <a:ext uri="{FF2B5EF4-FFF2-40B4-BE49-F238E27FC236}">
                  <a16:creationId xmlns:a16="http://schemas.microsoft.com/office/drawing/2014/main" id="{DC42BDA1-810A-4135-B3B1-B3161D372A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FA51FCA8-FCF4-4116-8CB2-5C539E37F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3" name="Freeform 24">
              <a:extLst>
                <a:ext uri="{FF2B5EF4-FFF2-40B4-BE49-F238E27FC236}">
                  <a16:creationId xmlns:a16="http://schemas.microsoft.com/office/drawing/2014/main" id="{F2850A10-CDBC-462A-8CB7-025874683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738A37B9-77C2-4464-BF1F-2AF25A0D2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5" name="Freeform 26">
              <a:extLst>
                <a:ext uri="{FF2B5EF4-FFF2-40B4-BE49-F238E27FC236}">
                  <a16:creationId xmlns:a16="http://schemas.microsoft.com/office/drawing/2014/main" id="{89026C8B-A162-4523-A51B-9F1200BC6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6" name="Freeform 27">
              <a:extLst>
                <a:ext uri="{FF2B5EF4-FFF2-40B4-BE49-F238E27FC236}">
                  <a16:creationId xmlns:a16="http://schemas.microsoft.com/office/drawing/2014/main" id="{5B76BC40-1FA2-477D-B2C2-4763577DB7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7" name="Freeform 28">
              <a:extLst>
                <a:ext uri="{FF2B5EF4-FFF2-40B4-BE49-F238E27FC236}">
                  <a16:creationId xmlns:a16="http://schemas.microsoft.com/office/drawing/2014/main" id="{6BC68EAA-2809-4AE4-80C1-2555CEF73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8" name="Freeform 29">
              <a:extLst>
                <a:ext uri="{FF2B5EF4-FFF2-40B4-BE49-F238E27FC236}">
                  <a16:creationId xmlns:a16="http://schemas.microsoft.com/office/drawing/2014/main" id="{FE709D1B-0541-4414-9E87-CF7D6918C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9" name="Freeform 30">
              <a:extLst>
                <a:ext uri="{FF2B5EF4-FFF2-40B4-BE49-F238E27FC236}">
                  <a16:creationId xmlns:a16="http://schemas.microsoft.com/office/drawing/2014/main" id="{33BCB888-11B8-4D01-BCDA-59BBA28DC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0" name="Freeform 31">
              <a:extLst>
                <a:ext uri="{FF2B5EF4-FFF2-40B4-BE49-F238E27FC236}">
                  <a16:creationId xmlns:a16="http://schemas.microsoft.com/office/drawing/2014/main" id="{28E5CE3E-C11A-4CF7-82BF-37D1221D4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1" name="Freeform 32">
              <a:extLst>
                <a:ext uri="{FF2B5EF4-FFF2-40B4-BE49-F238E27FC236}">
                  <a16:creationId xmlns:a16="http://schemas.microsoft.com/office/drawing/2014/main" id="{55284FC3-21FB-4FA7-B695-2D6A9CEF7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3DA6B78-00DE-4E55-9124-EFD72519B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3" name="Freeform 34">
              <a:extLst>
                <a:ext uri="{FF2B5EF4-FFF2-40B4-BE49-F238E27FC236}">
                  <a16:creationId xmlns:a16="http://schemas.microsoft.com/office/drawing/2014/main" id="{D4602B0F-2844-48BE-9B4A-0366AC904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4" name="Freeform 35">
              <a:extLst>
                <a:ext uri="{FF2B5EF4-FFF2-40B4-BE49-F238E27FC236}">
                  <a16:creationId xmlns:a16="http://schemas.microsoft.com/office/drawing/2014/main" id="{E31E05BB-6004-474D-9900-D990378FD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5" name="Freeform 36">
              <a:extLst>
                <a:ext uri="{FF2B5EF4-FFF2-40B4-BE49-F238E27FC236}">
                  <a16:creationId xmlns:a16="http://schemas.microsoft.com/office/drawing/2014/main" id="{00BD01ED-F65D-4601-A77D-508E960E0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6" name="Freeform 37">
              <a:extLst>
                <a:ext uri="{FF2B5EF4-FFF2-40B4-BE49-F238E27FC236}">
                  <a16:creationId xmlns:a16="http://schemas.microsoft.com/office/drawing/2014/main" id="{FD307CAE-789C-4E80-B6F1-9858A3AB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7" name="Freeform 38">
              <a:extLst>
                <a:ext uri="{FF2B5EF4-FFF2-40B4-BE49-F238E27FC236}">
                  <a16:creationId xmlns:a16="http://schemas.microsoft.com/office/drawing/2014/main" id="{94B97B29-709E-4E24-B2FA-EF84AA12D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8" name="Freeform 39">
              <a:extLst>
                <a:ext uri="{FF2B5EF4-FFF2-40B4-BE49-F238E27FC236}">
                  <a16:creationId xmlns:a16="http://schemas.microsoft.com/office/drawing/2014/main" id="{C05D52B9-1FA2-4E7C-8229-B09811A90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9" name="Freeform 40">
              <a:extLst>
                <a:ext uri="{FF2B5EF4-FFF2-40B4-BE49-F238E27FC236}">
                  <a16:creationId xmlns:a16="http://schemas.microsoft.com/office/drawing/2014/main" id="{CC0A5575-2FB9-440F-B9A8-E0DDE1C3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0" name="Freeform 41">
              <a:extLst>
                <a:ext uri="{FF2B5EF4-FFF2-40B4-BE49-F238E27FC236}">
                  <a16:creationId xmlns:a16="http://schemas.microsoft.com/office/drawing/2014/main" id="{AFFCC88F-01DF-4DE1-8CD5-88631E30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1" name="Freeform 42">
              <a:extLst>
                <a:ext uri="{FF2B5EF4-FFF2-40B4-BE49-F238E27FC236}">
                  <a16:creationId xmlns:a16="http://schemas.microsoft.com/office/drawing/2014/main" id="{33EEC40B-E2CD-4BAC-94D6-85B70714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2" name="Freeform 43">
              <a:extLst>
                <a:ext uri="{FF2B5EF4-FFF2-40B4-BE49-F238E27FC236}">
                  <a16:creationId xmlns:a16="http://schemas.microsoft.com/office/drawing/2014/main" id="{3E0E9643-5C60-4933-BB1B-9A09057E7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3" name="Freeform 44">
              <a:extLst>
                <a:ext uri="{FF2B5EF4-FFF2-40B4-BE49-F238E27FC236}">
                  <a16:creationId xmlns:a16="http://schemas.microsoft.com/office/drawing/2014/main" id="{94F86E92-9EC7-437C-946B-31E7C1C47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E9A51BE-C514-46B5-ABA6-7E7C878F8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5" name="Freeform 46">
              <a:extLst>
                <a:ext uri="{FF2B5EF4-FFF2-40B4-BE49-F238E27FC236}">
                  <a16:creationId xmlns:a16="http://schemas.microsoft.com/office/drawing/2014/main" id="{8B255447-F0E9-4D96-A4B0-F9EDDE58A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6" name="Freeform 47">
              <a:extLst>
                <a:ext uri="{FF2B5EF4-FFF2-40B4-BE49-F238E27FC236}">
                  <a16:creationId xmlns:a16="http://schemas.microsoft.com/office/drawing/2014/main" id="{AFAC5F3A-3BE7-489E-A848-498B9995F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7" name="Freeform 48">
              <a:extLst>
                <a:ext uri="{FF2B5EF4-FFF2-40B4-BE49-F238E27FC236}">
                  <a16:creationId xmlns:a16="http://schemas.microsoft.com/office/drawing/2014/main" id="{A974E7AA-5EF3-4817-B0AE-4C1A784EE9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8" name="Freeform 49">
              <a:extLst>
                <a:ext uri="{FF2B5EF4-FFF2-40B4-BE49-F238E27FC236}">
                  <a16:creationId xmlns:a16="http://schemas.microsoft.com/office/drawing/2014/main" id="{8AA54AC1-3E87-49C0-A594-87829A2CF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69" name="Freeform 50">
              <a:extLst>
                <a:ext uri="{FF2B5EF4-FFF2-40B4-BE49-F238E27FC236}">
                  <a16:creationId xmlns:a16="http://schemas.microsoft.com/office/drawing/2014/main" id="{CC237789-73BC-4BD9-BFE8-1325FA4B5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0" name="Freeform 51">
              <a:extLst>
                <a:ext uri="{FF2B5EF4-FFF2-40B4-BE49-F238E27FC236}">
                  <a16:creationId xmlns:a16="http://schemas.microsoft.com/office/drawing/2014/main" id="{DCF4052D-CF62-47DC-991E-49D0BA908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1" name="Freeform 52">
              <a:extLst>
                <a:ext uri="{FF2B5EF4-FFF2-40B4-BE49-F238E27FC236}">
                  <a16:creationId xmlns:a16="http://schemas.microsoft.com/office/drawing/2014/main" id="{2ABD9104-C938-44F2-8622-8407A2593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2" name="Freeform 53">
              <a:extLst>
                <a:ext uri="{FF2B5EF4-FFF2-40B4-BE49-F238E27FC236}">
                  <a16:creationId xmlns:a16="http://schemas.microsoft.com/office/drawing/2014/main" id="{4AA18F60-3E86-4A5A-B82E-A79183ED3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3" name="Freeform 54">
              <a:extLst>
                <a:ext uri="{FF2B5EF4-FFF2-40B4-BE49-F238E27FC236}">
                  <a16:creationId xmlns:a16="http://schemas.microsoft.com/office/drawing/2014/main" id="{0F34C941-6196-4937-99E5-14AAD23F2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4" name="Freeform 55">
              <a:extLst>
                <a:ext uri="{FF2B5EF4-FFF2-40B4-BE49-F238E27FC236}">
                  <a16:creationId xmlns:a16="http://schemas.microsoft.com/office/drawing/2014/main" id="{60DB8A6C-23D7-4A88-BDCE-8FEC86A12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5" name="Freeform 56">
              <a:extLst>
                <a:ext uri="{FF2B5EF4-FFF2-40B4-BE49-F238E27FC236}">
                  <a16:creationId xmlns:a16="http://schemas.microsoft.com/office/drawing/2014/main" id="{29F5F702-AEE6-4633-BB20-7A15C3A31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6" name="Freeform 57">
              <a:extLst>
                <a:ext uri="{FF2B5EF4-FFF2-40B4-BE49-F238E27FC236}">
                  <a16:creationId xmlns:a16="http://schemas.microsoft.com/office/drawing/2014/main" id="{F30C7A45-6890-4EA5-9F6B-E2AB4D04C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7" name="Freeform 58">
              <a:extLst>
                <a:ext uri="{FF2B5EF4-FFF2-40B4-BE49-F238E27FC236}">
                  <a16:creationId xmlns:a16="http://schemas.microsoft.com/office/drawing/2014/main" id="{F31A7373-F68A-485D-95DC-B53ACC7B5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EE014E-B987-8F97-3F35-0AE598A0D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3062" y="4829174"/>
            <a:ext cx="10215563" cy="2860675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/>
              <a:t>Sudo </a:t>
            </a:r>
            <a:r>
              <a:rPr lang="en-US" sz="2400" dirty="0"/>
              <a:t>- Runs the command with administrative privileges.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/>
              <a:t>Add - apt - repository</a:t>
            </a:r>
            <a:r>
              <a:rPr lang="en-US" sz="2400" dirty="0"/>
              <a:t> - Adds a new software repository to your system.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 err="1"/>
              <a:t>Ppa</a:t>
            </a:r>
            <a:r>
              <a:rPr lang="en-US" sz="2400" b="1" dirty="0"/>
              <a:t>: </a:t>
            </a:r>
            <a:r>
              <a:rPr lang="en-US" sz="2400" b="1" dirty="0" err="1"/>
              <a:t>oisf</a:t>
            </a:r>
            <a:r>
              <a:rPr lang="en-US" sz="2400" b="1" dirty="0"/>
              <a:t>/</a:t>
            </a:r>
            <a:r>
              <a:rPr lang="en-US" sz="2400" b="1" dirty="0" err="1"/>
              <a:t>suricata</a:t>
            </a:r>
            <a:r>
              <a:rPr lang="en-US" sz="2400" b="1" dirty="0"/>
              <a:t> - stable - </a:t>
            </a:r>
            <a:r>
              <a:rPr lang="en-US" sz="2400" dirty="0"/>
              <a:t>Specifies </a:t>
            </a:r>
            <a:r>
              <a:rPr lang="en-US" sz="2400" dirty="0" err="1"/>
              <a:t>tha</a:t>
            </a:r>
            <a:r>
              <a:rPr lang="en-US" sz="2400" dirty="0"/>
              <a:t> </a:t>
            </a:r>
            <a:r>
              <a:rPr lang="en-US" sz="2400" dirty="0" err="1"/>
              <a:t>ppa</a:t>
            </a:r>
            <a:r>
              <a:rPr lang="en-US" sz="2400" dirty="0"/>
              <a:t> maintained by the Open Information Foundation (OISF), which provides stable Suricata packages.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ZA" sz="1800" dirty="0"/>
          </a:p>
        </p:txBody>
      </p:sp>
    </p:spTree>
    <p:extLst>
      <p:ext uri="{BB962C8B-B14F-4D97-AF65-F5344CB8AC3E}">
        <p14:creationId xmlns:p14="http://schemas.microsoft.com/office/powerpoint/2010/main" val="1668102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01316-8BA4-7324-8453-ED2C67F74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394" y="75913"/>
            <a:ext cx="10011268" cy="6782087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STEP 2 : Update Suricata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STEP 3: Install Suricata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B6D266-2F8E-B1D6-2EB9-7EDCD5065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394" y="690126"/>
            <a:ext cx="6873836" cy="2485884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50B176D0-B8F9-7554-CB15-C44B650BE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94" y="4106648"/>
            <a:ext cx="6866215" cy="275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42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CB7473-4EFA-BEFD-0568-92AD2275B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8365" y="104931"/>
            <a:ext cx="4734734" cy="67530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 u="sng" dirty="0"/>
              <a:t>STEP 4: Enable IPS mode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/>
              <a:t>Sed -</a:t>
            </a:r>
            <a:r>
              <a:rPr lang="en-US" sz="2900" b="1" dirty="0" err="1"/>
              <a:t>i</a:t>
            </a:r>
            <a:r>
              <a:rPr lang="en-US" sz="2900" b="1" dirty="0"/>
              <a:t> –e </a:t>
            </a:r>
            <a:r>
              <a:rPr lang="en-US" sz="2900" dirty="0"/>
              <a:t>– Uses sed to edit the files in place.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/>
              <a:t>‘/ATTACK_RESPONSE/ s/^alert/drop/’ </a:t>
            </a:r>
            <a:r>
              <a:rPr lang="en-US" sz="2900" dirty="0"/>
              <a:t>– Finds lines containing “ATTACK_RESPONSE” and replaces “alert” with “drop”.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/>
              <a:t>‘/USER_AGENT/ s/^alert/drop/’ – </a:t>
            </a:r>
            <a:r>
              <a:rPr lang="en-US" sz="2900" dirty="0"/>
              <a:t>Finds lines containing “USER_AGENTS” and replaces “alert” with “drop”.</a:t>
            </a:r>
            <a:endParaRPr lang="en-US" sz="29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/>
              <a:t>/var/lib/</a:t>
            </a:r>
            <a:r>
              <a:rPr lang="en-US" sz="2900" b="1" dirty="0" err="1"/>
              <a:t>suricata</a:t>
            </a:r>
            <a:r>
              <a:rPr lang="en-US" sz="2900" b="1" dirty="0"/>
              <a:t>/rules/</a:t>
            </a:r>
            <a:r>
              <a:rPr lang="en-US" sz="2900" b="1" dirty="0" err="1"/>
              <a:t>suricata.rules</a:t>
            </a:r>
            <a:r>
              <a:rPr lang="en-US" sz="2900" b="1" dirty="0"/>
              <a:t> – </a:t>
            </a:r>
            <a:r>
              <a:rPr lang="en-US" sz="2900" dirty="0"/>
              <a:t>The file being modified. Effectively, this changes Suricata’s behavior for certain attack response rules.</a:t>
            </a:r>
          </a:p>
          <a:p>
            <a:pPr marL="0" indent="0">
              <a:buNone/>
            </a:pPr>
            <a:r>
              <a:rPr lang="en-US" sz="3800" u="sng" dirty="0"/>
              <a:t>STEP 5: Start Suricata in IPS mode 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/>
              <a:t>-c /</a:t>
            </a:r>
            <a:r>
              <a:rPr lang="en-US" sz="2900" b="1" dirty="0" err="1"/>
              <a:t>etc</a:t>
            </a:r>
            <a:r>
              <a:rPr lang="en-US" sz="2900" b="1" dirty="0"/>
              <a:t>/</a:t>
            </a:r>
            <a:r>
              <a:rPr lang="en-US" sz="2900" b="1" dirty="0" err="1"/>
              <a:t>suricata</a:t>
            </a:r>
            <a:r>
              <a:rPr lang="en-US" sz="2900" b="1" dirty="0"/>
              <a:t>/</a:t>
            </a:r>
            <a:r>
              <a:rPr lang="en-US" sz="2900" b="1" dirty="0" err="1"/>
              <a:t>suricata.yaml</a:t>
            </a:r>
            <a:r>
              <a:rPr lang="en-US" sz="2900" dirty="0"/>
              <a:t> – Specifies the </a:t>
            </a:r>
            <a:r>
              <a:rPr lang="en-US" sz="2900" dirty="0" err="1"/>
              <a:t>cocnfiguration</a:t>
            </a:r>
            <a:r>
              <a:rPr lang="en-US" sz="2900" dirty="0"/>
              <a:t> file Suricata should use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E6B6A9-445F-1C8E-68C4-128C0FC12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2676" y="104930"/>
            <a:ext cx="5064857" cy="6753069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900" b="1" dirty="0"/>
              <a:t>-q 0 </a:t>
            </a:r>
            <a:r>
              <a:rPr lang="en-US" sz="2900" dirty="0"/>
              <a:t> - Tells </a:t>
            </a:r>
            <a:r>
              <a:rPr lang="en-US" sz="2900" dirty="0" err="1"/>
              <a:t>suricata</a:t>
            </a:r>
            <a:r>
              <a:rPr lang="en-US" sz="2900" dirty="0"/>
              <a:t> to use queue 0 for packet processing (used in IPS mode).</a:t>
            </a:r>
            <a:endParaRPr lang="en-US" sz="2900" b="1" dirty="0"/>
          </a:p>
          <a:p>
            <a:pPr marL="0" indent="0">
              <a:buNone/>
            </a:pPr>
            <a:r>
              <a:rPr lang="en-US" sz="4400" u="sng" dirty="0"/>
              <a:t>STEP 6: Download and update Suricata rules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 err="1"/>
              <a:t>suricata</a:t>
            </a:r>
            <a:r>
              <a:rPr lang="en-US" sz="2900" b="1" dirty="0"/>
              <a:t> – update </a:t>
            </a:r>
            <a:r>
              <a:rPr lang="en-US" sz="2900" dirty="0"/>
              <a:t>– Manually updates the rules</a:t>
            </a:r>
            <a:endParaRPr lang="en-US" sz="29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A6AC26-0C1F-2068-64E9-2422949FD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0" y="816441"/>
            <a:ext cx="3178959" cy="5182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CD1DF7-53CA-82A8-5300-B64676D7D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0" y="4685668"/>
            <a:ext cx="3763099" cy="510584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D29FC0-E59A-9A71-0003-7FEA1223E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209" y="1542464"/>
            <a:ext cx="4986159" cy="465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89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55203-6391-F796-36AD-90AB74971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0"/>
            <a:ext cx="4878389" cy="685800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STEP 7: Edit Suricata files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Nano </a:t>
            </a:r>
            <a:r>
              <a:rPr lang="en-US" dirty="0"/>
              <a:t>- Launches the Nano text editor (user-friendly text editor).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/</a:t>
            </a:r>
            <a:r>
              <a:rPr lang="en-US" b="1" dirty="0" err="1"/>
              <a:t>etc</a:t>
            </a:r>
            <a:r>
              <a:rPr lang="en-US" b="1" dirty="0"/>
              <a:t>/default/</a:t>
            </a:r>
            <a:r>
              <a:rPr lang="en-US" b="1" dirty="0" err="1"/>
              <a:t>suricata</a:t>
            </a:r>
            <a:r>
              <a:rPr lang="en-US" b="1" dirty="0"/>
              <a:t> </a:t>
            </a:r>
            <a:r>
              <a:rPr lang="en-US" dirty="0"/>
              <a:t>- This file contains Suricata's default startup settings, such as network interfaces and runtime options.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8C0582-3105-2A19-CE85-4347A439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-1"/>
            <a:ext cx="5175354" cy="668561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       editing </a:t>
            </a:r>
            <a:r>
              <a:rPr lang="en-US" dirty="0" err="1"/>
              <a:t>suricata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        results after editing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82A439-F623-4A5A-3B43-0E99D5FDA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0" y="659567"/>
            <a:ext cx="3716658" cy="494676"/>
          </a:xfrm>
          <a:prstGeom prst="rect">
            <a:avLst/>
          </a:prstGeom>
        </p:spPr>
      </p:pic>
      <p:pic>
        <p:nvPicPr>
          <p:cNvPr id="12" name="Picture 11" descr="A screenshot of a computer program">
            <a:extLst>
              <a:ext uri="{FF2B5EF4-FFF2-40B4-BE49-F238E27FC236}">
                <a16:creationId xmlns:a16="http://schemas.microsoft.com/office/drawing/2014/main" id="{3D547340-B888-8A11-A3C5-E574F46FD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09" y="3942413"/>
            <a:ext cx="4151027" cy="2743199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15771C-6032-E5DE-22F0-3B7D3FF1E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527" y="172388"/>
            <a:ext cx="5016027" cy="3388231"/>
          </a:xfrm>
          <a:prstGeom prst="rect">
            <a:avLst/>
          </a:prstGeom>
        </p:spPr>
      </p:pic>
      <p:pic>
        <p:nvPicPr>
          <p:cNvPr id="16" name="Picture 15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356FEFE0-5C93-F512-B6F1-058ABDAAF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853" y="4338187"/>
            <a:ext cx="4320914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73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9EFD4-F55A-0220-74F8-B9163B352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80110"/>
            <a:ext cx="9905998" cy="1108364"/>
          </a:xfrm>
        </p:spPr>
        <p:txBody>
          <a:bodyPr/>
          <a:lstStyle/>
          <a:p>
            <a:r>
              <a:rPr lang="en-US" dirty="0"/>
              <a:t>Part 3: using </a:t>
            </a:r>
            <a:r>
              <a:rPr lang="en-US" dirty="0" err="1"/>
              <a:t>pentbox</a:t>
            </a:r>
            <a:r>
              <a:rPr lang="en-US" dirty="0"/>
              <a:t> or any other tool 		     create a honeypot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8D164-1D24-FA1D-B545-F8BB7E797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88474"/>
            <a:ext cx="9905999" cy="556952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OBJECTIVE: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To simulate vulnerable systems that attract attackers, allowing security professionals to study attack patterns, monitor malicious activity, and improve defenses.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u="sng" dirty="0"/>
              <a:t>Step 1: Install a </a:t>
            </a:r>
            <a:r>
              <a:rPr lang="en-US" u="sng" dirty="0" err="1"/>
              <a:t>Pentbox</a:t>
            </a:r>
            <a:endParaRPr lang="en-US" u="sng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Git clone https://github.com/technicaldada/pentbox </a:t>
            </a:r>
            <a:r>
              <a:rPr lang="en-US" dirty="0"/>
              <a:t>- Uses git clone to download the </a:t>
            </a:r>
            <a:r>
              <a:rPr lang="en-US" dirty="0" err="1"/>
              <a:t>PentBox</a:t>
            </a:r>
            <a:r>
              <a:rPr lang="en-US" dirty="0"/>
              <a:t> repository from GitHub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6FF332E6-248C-EF7F-2B81-A2565630A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052" y="3630492"/>
            <a:ext cx="7215076" cy="21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17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595ED-6EF6-7C14-9260-FB8F13884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732" y="214946"/>
            <a:ext cx="9905999" cy="664305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Cd </a:t>
            </a:r>
            <a:r>
              <a:rPr lang="en-US" b="1" dirty="0" err="1"/>
              <a:t>pentbox</a:t>
            </a:r>
            <a:r>
              <a:rPr lang="en-US" dirty="0"/>
              <a:t> – Changes the directory cd to the </a:t>
            </a:r>
            <a:r>
              <a:rPr lang="en-US" dirty="0" err="1"/>
              <a:t>PentBox</a:t>
            </a:r>
            <a:r>
              <a:rPr lang="en-US" dirty="0"/>
              <a:t> folder, allowing access to the downloaded files.</a:t>
            </a:r>
          </a:p>
          <a:p>
            <a:pPr marL="0" indent="0">
              <a:buNone/>
            </a:pPr>
            <a:r>
              <a:rPr lang="en-US" u="sng" dirty="0"/>
              <a:t>STEP 2 : Run the </a:t>
            </a:r>
            <a:r>
              <a:rPr lang="en-US" u="sng" dirty="0" err="1"/>
              <a:t>Pentbox</a:t>
            </a:r>
            <a:endParaRPr lang="en-US" u="sn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Select option 2 (Network tools)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5" name="Picture 4" descr="A computer screen shot of wires&#10;&#10;AI-generated content may be incorrect.">
            <a:extLst>
              <a:ext uri="{FF2B5EF4-FFF2-40B4-BE49-F238E27FC236}">
                <a16:creationId xmlns:a16="http://schemas.microsoft.com/office/drawing/2014/main" id="{540298EC-8912-D881-46A1-9D4BE104E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732" y="1923866"/>
            <a:ext cx="6905308" cy="399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84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47D57-88AC-016B-8B8B-767037C02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0"/>
            <a:ext cx="9905999" cy="685800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STEP 3: Create a Honeypot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Select Option 3 (Honeypot)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9" name="Picture 8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6AA907BF-822E-6D3E-7C94-A389FB2ED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36" y="727497"/>
            <a:ext cx="7247248" cy="490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03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C6053D-2D95-0FAE-F9E7-E9327F5CD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592" y="123506"/>
            <a:ext cx="9905999" cy="673449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ZA" dirty="0"/>
          </a:p>
          <a:p>
            <a:pPr>
              <a:buFont typeface="Wingdings" panose="05000000000000000000" pitchFamily="2" charset="2"/>
              <a:buChar char="Ø"/>
            </a:pPr>
            <a:r>
              <a:rPr lang="en-ZA" dirty="0"/>
              <a:t> Select Option 2 (Manual configuration)</a:t>
            </a:r>
          </a:p>
          <a:p>
            <a:pPr marL="0" indent="0">
              <a:buNone/>
            </a:pPr>
            <a:r>
              <a:rPr lang="en-US" u="sng" dirty="0"/>
              <a:t>STEP 4: Activate rules on port 22 and port 80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C0828727-B799-E40E-E66D-C00048060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592" y="123506"/>
            <a:ext cx="7369179" cy="2796782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FE40B5-C245-7A3B-E29A-BAAA3371D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592" y="4320540"/>
            <a:ext cx="7369179" cy="241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66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69F71-7B0A-934E-A235-DB4C611E4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89" y="163621"/>
            <a:ext cx="9905999" cy="6858000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Step 5: Test the Honeypot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BDC183-891B-8790-7E73-541AE2552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163621"/>
            <a:ext cx="7315834" cy="4111200"/>
          </a:xfrm>
          <a:prstGeom prst="rect">
            <a:avLst/>
          </a:prstGeom>
        </p:spPr>
      </p:pic>
      <p:pic>
        <p:nvPicPr>
          <p:cNvPr id="7" name="Picture 6" descr="A close up of a screen&#10;&#10;AI-generated content may be incorrect.">
            <a:extLst>
              <a:ext uri="{FF2B5EF4-FFF2-40B4-BE49-F238E27FC236}">
                <a16:creationId xmlns:a16="http://schemas.microsoft.com/office/drawing/2014/main" id="{CEC89BB8-C05B-4600-924D-406C6E7DF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2" y="5345522"/>
            <a:ext cx="8771380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062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297</TotalTime>
  <Words>825</Words>
  <Application>Microsoft Office PowerPoint</Application>
  <PresentationFormat>Widescreen</PresentationFormat>
  <Paragraphs>154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Times New Roman</vt:lpstr>
      <vt:lpstr>Tw Cen MT</vt:lpstr>
      <vt:lpstr>Wingdings</vt:lpstr>
      <vt:lpstr>Circuit</vt:lpstr>
      <vt:lpstr>S molaba</vt:lpstr>
      <vt:lpstr>PART 1:Create a firewall using               iptables or Ufw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3: using pentbox or any other tool        create a honeypot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Mucuanga</dc:creator>
  <cp:lastModifiedBy>S Molaba</cp:lastModifiedBy>
  <cp:revision>2</cp:revision>
  <dcterms:created xsi:type="dcterms:W3CDTF">2025-05-13T13:59:59Z</dcterms:created>
  <dcterms:modified xsi:type="dcterms:W3CDTF">2026-06-08T20:09:09Z</dcterms:modified>
</cp:coreProperties>
</file>